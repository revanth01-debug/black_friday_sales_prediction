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310" r:id="rId6"/>
    <p:sldId id="316" r:id="rId7"/>
    <p:sldId id="312" r:id="rId8"/>
    <p:sldId id="317" r:id="rId9"/>
    <p:sldId id="313" r:id="rId10"/>
    <p:sldId id="314" r:id="rId11"/>
    <p:sldId id="318" r:id="rId12"/>
    <p:sldId id="319" r:id="rId13"/>
    <p:sldId id="320" r:id="rId14"/>
    <p:sldId id="321" r:id="rId15"/>
    <p:sldId id="322" r:id="rId16"/>
    <p:sldId id="323" r:id="rId17"/>
    <p:sldId id="31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43" d="100"/>
          <a:sy n="43" d="100"/>
        </p:scale>
        <p:origin x="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00594"/>
            <a:ext cx="7234989" cy="3313090"/>
          </a:xfrm>
        </p:spPr>
        <p:txBody>
          <a:bodyPr>
            <a:normAutofit fontScale="90000"/>
          </a:bodyPr>
          <a:lstStyle/>
          <a:p>
            <a:r>
              <a:rPr lang="en-IN" dirty="0"/>
              <a:t>BLACK FRIDAY SALES PREDICTION</a:t>
            </a:r>
            <a:br>
              <a:rPr lang="en-US" b="1" dirty="0"/>
            </a:b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IN" dirty="0"/>
              <a:t>SALES ANALYSIS</a:t>
            </a:r>
          </a:p>
          <a:p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 descr="fvfef">
            <a:extLst>
              <a:ext uri="{FF2B5EF4-FFF2-40B4-BE49-F238E27FC236}">
                <a16:creationId xmlns:a16="http://schemas.microsoft.com/office/drawing/2014/main" id="{F0650346-1505-2BCA-544F-AF0B52B6841B}"/>
              </a:ext>
            </a:extLst>
          </p:cNvPr>
          <p:cNvSpPr/>
          <p:nvPr/>
        </p:nvSpPr>
        <p:spPr>
          <a:xfrm>
            <a:off x="4042611" y="5470358"/>
            <a:ext cx="3192378" cy="12031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NAME: RADHARAPU REVANTH</a:t>
            </a:r>
          </a:p>
          <a:p>
            <a:pPr algn="ctr"/>
            <a:r>
              <a:rPr lang="en-IN" dirty="0"/>
              <a:t>ROLL  NO: 240352418</a:t>
            </a:r>
          </a:p>
          <a:p>
            <a:pPr algn="ctr"/>
            <a:r>
              <a:rPr lang="en-IN" dirty="0"/>
              <a:t>CSE AIML 15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0D334E-6BEE-8E66-D4BC-9D29B5107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145" y="0"/>
            <a:ext cx="4682134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12A3AAF-75EF-4AAE-4A75-8C6C192FF450}"/>
              </a:ext>
            </a:extLst>
          </p:cNvPr>
          <p:cNvSpPr/>
          <p:nvPr/>
        </p:nvSpPr>
        <p:spPr>
          <a:xfrm flipH="1">
            <a:off x="10644700" y="0"/>
            <a:ext cx="1306667" cy="68634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</a:p>
          <a:p>
            <a:pPr algn="ctr"/>
            <a:r>
              <a:rPr lang="en-US" sz="4400" b="1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</a:p>
          <a:p>
            <a:pPr algn="ctr"/>
            <a:r>
              <a:rPr lang="en-US" sz="4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</a:p>
          <a:p>
            <a:pPr algn="ctr"/>
            <a:r>
              <a:rPr lang="en-US" sz="4400" b="1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</a:p>
          <a:p>
            <a:pPr algn="ctr"/>
            <a:r>
              <a:rPr lang="en-US" sz="4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</a:p>
          <a:p>
            <a:pPr algn="ctr"/>
            <a:r>
              <a:rPr lang="en-US" sz="4400" b="1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  <a:p>
            <a:pPr algn="ctr"/>
            <a:r>
              <a:rPr lang="en-US" sz="4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</a:p>
          <a:p>
            <a:pPr algn="ctr"/>
            <a:r>
              <a:rPr lang="en-US" sz="4400" b="1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</a:p>
          <a:p>
            <a:pPr algn="ctr"/>
            <a:r>
              <a:rPr lang="en-US" sz="4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</a:p>
          <a:p>
            <a:pPr algn="ctr"/>
            <a:r>
              <a:rPr lang="en-US" sz="4400" b="1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endParaRPr lang="en-US" sz="4400" b="1" cap="none" spc="0" dirty="0">
              <a:ln/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CB32-901A-4DA0-AA8A-9A7B5A88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80377"/>
            <a:ext cx="10058400" cy="1120911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PROBLEM STATEMENT: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5476F-66B6-C2DF-75B6-1BB32BEF4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632319"/>
            <a:ext cx="6104903" cy="508327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Predict customer purchase amounts during Black Friday sales using historical transaction and demographic data.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The goal is to build a machine learning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model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that identifies key factors influencing spending behavior.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This helps retailers optimize pricing, inventory, and targeted marketing strategies.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The project also aims to improve sales forecasting accuracy for large-scale retail events.</a:t>
            </a:r>
          </a:p>
          <a:p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1CCFD0-4F3C-C84E-BE4B-E9EC7FC56EB2}"/>
              </a:ext>
            </a:extLst>
          </p:cNvPr>
          <p:cNvCxnSpPr>
            <a:cxnSpLocks/>
          </p:cNvCxnSpPr>
          <p:nvPr/>
        </p:nvCxnSpPr>
        <p:spPr>
          <a:xfrm>
            <a:off x="11887200" y="0"/>
            <a:ext cx="0" cy="6368716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28B47C-7B2C-A96F-EF5E-2305D7E8C532}"/>
              </a:ext>
            </a:extLst>
          </p:cNvPr>
          <p:cNvCxnSpPr>
            <a:cxnSpLocks/>
          </p:cNvCxnSpPr>
          <p:nvPr/>
        </p:nvCxnSpPr>
        <p:spPr>
          <a:xfrm>
            <a:off x="12007516" y="44918"/>
            <a:ext cx="0" cy="6368716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8DB9C71-2F4E-76EA-628D-93E7ADE6D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0856" y="-22459"/>
            <a:ext cx="272921" cy="64136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15DD7E6-9C98-37F2-87A9-7F560C6E3FC7}"/>
              </a:ext>
            </a:extLst>
          </p:cNvPr>
          <p:cNvSpPr/>
          <p:nvPr/>
        </p:nvSpPr>
        <p:spPr>
          <a:xfrm>
            <a:off x="8097520" y="2611120"/>
            <a:ext cx="3516760" cy="27127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28" name="Picture 4" descr="Black Friday Sets New Online Spending ...">
            <a:extLst>
              <a:ext uri="{FF2B5EF4-FFF2-40B4-BE49-F238E27FC236}">
                <a16:creationId xmlns:a16="http://schemas.microsoft.com/office/drawing/2014/main" id="{324F2525-2C70-8D09-8702-151CAD191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149" y="2534868"/>
            <a:ext cx="3633401" cy="260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34D01-07C5-4E08-5E5D-B15354D88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B1C2-86A0-0333-D3EA-1B4F3BAE1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47023"/>
            <a:ext cx="10058400" cy="1450757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Explanation of the Project: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A9027-3D4F-21DB-9029-56F76B74F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118" y="0"/>
            <a:ext cx="270882" cy="639474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80D9173-716F-DEE2-8337-3A8D742F74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794814"/>
            <a:ext cx="10327240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historical retail data (customer demographics, product categories, purchase history).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Incorporates variables like age, gender, occupation, and city category.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Applies machine learning algorithms for predicting purchase amounts.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data preprocessing, feature engineering, and model evaluation.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Visualizes trends and patterns in customer spending behavior during Black Friday </a:t>
            </a:r>
          </a:p>
        </p:txBody>
      </p:sp>
    </p:spTree>
    <p:extLst>
      <p:ext uri="{BB962C8B-B14F-4D97-AF65-F5344CB8AC3E}">
        <p14:creationId xmlns:p14="http://schemas.microsoft.com/office/powerpoint/2010/main" val="1738414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DF7AE-A1ED-83A9-370A-821BE3C2B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Explanation of the Project: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AFF2D-A8C2-B253-E86A-D35859919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688" y="2097194"/>
            <a:ext cx="7658100" cy="3760891"/>
          </a:xfrm>
        </p:spPr>
        <p:txBody>
          <a:bodyPr>
            <a:normAutofit lnSpcReduction="10000"/>
          </a:bodyPr>
          <a:lstStyle/>
          <a:p>
            <a:pPr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 Collected weekly sales data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 Loaded data into Python using Pandas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 Cleaned and organized the dataset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 Calculated weekly increment using formula: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b="1" dirty="0"/>
              <a:t>Increment = Current Week Sales − Previous Week Sales</a:t>
            </a:r>
            <a:endParaRPr lang="en-US" sz="2400" dirty="0"/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 Applied prediction technique to forecast future sales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 Visualized results using graphs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6EE0E0-06EA-5C32-F8C2-4FD4AC65A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7486" y="-39757"/>
            <a:ext cx="271980" cy="642067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9972E5-E853-8C8A-99EB-40EDA5B03DAB}"/>
              </a:ext>
            </a:extLst>
          </p:cNvPr>
          <p:cNvSpPr/>
          <p:nvPr/>
        </p:nvSpPr>
        <p:spPr>
          <a:xfrm>
            <a:off x="8683394" y="2707748"/>
            <a:ext cx="3123795" cy="2357540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2" descr="Sales Prediction on Black Friday using ML Regression Technique | by Suv  Sanjit Patnaik | Analytics Vidhya | Medium">
            <a:extLst>
              <a:ext uri="{FF2B5EF4-FFF2-40B4-BE49-F238E27FC236}">
                <a16:creationId xmlns:a16="http://schemas.microsoft.com/office/drawing/2014/main" id="{BAFD4E71-64EE-6EB3-2B8E-562BB91BB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788" y="2497725"/>
            <a:ext cx="3143539" cy="2357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556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CD070-9739-E394-D5CF-A9C5B68C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DF4E2-CB3A-68B5-0987-8EA6FF56D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Description of the Model/Algorithm Used</a:t>
            </a:r>
            <a:r>
              <a:rPr lang="en-IN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0E21F-083C-3BB5-9386-CE72078B6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6382307" cy="42727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project uses supervised machine learning algorithms to predict customer purchase amounts based on historical data from Black Friday sales.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commonly used model is Linear Regression, which predicts a continuous target variable (purchase amount) by finding relationships between independent variables such as age, gender, occupation, and city category.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73CFA-6B38-96D3-0104-426025932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7486" y="-39757"/>
            <a:ext cx="271980" cy="642067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C8C40CF-B6C8-052B-F51F-483789E38DC8}"/>
              </a:ext>
            </a:extLst>
          </p:cNvPr>
          <p:cNvSpPr/>
          <p:nvPr/>
        </p:nvSpPr>
        <p:spPr>
          <a:xfrm>
            <a:off x="8126730" y="2983230"/>
            <a:ext cx="3626906" cy="2451799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098" name="Picture 2" descr="Forecast Sales Using Machine Learning">
            <a:extLst>
              <a:ext uri="{FF2B5EF4-FFF2-40B4-BE49-F238E27FC236}">
                <a16:creationId xmlns:a16="http://schemas.microsoft.com/office/drawing/2014/main" id="{989A41CF-1C23-21EA-02BC-DB3C87A09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810" y="2640643"/>
            <a:ext cx="3726773" cy="2479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113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9920-1203-D28E-7425-36C825B39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68" y="988908"/>
            <a:ext cx="10058400" cy="145075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TOOLS &amp; TECHNOLOGIES USED</a:t>
            </a:r>
            <a:br>
              <a:rPr lang="en-IN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1044D2-E9F5-1FA5-6449-D4F09FE4E3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5239" y="2635685"/>
            <a:ext cx="647945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Programming language used for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Pandas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data loading and data manipulation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NumPy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numerical calculations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Matplotlib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plotting graphs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 / VS Code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Development environment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FDD58D-CE3D-C565-6732-64E2A7BCEA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060"/>
          <a:stretch>
            <a:fillRect/>
          </a:stretch>
        </p:blipFill>
        <p:spPr>
          <a:xfrm>
            <a:off x="11821726" y="0"/>
            <a:ext cx="370274" cy="6375748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2BDCE84A-1266-57BD-8D10-1A5A6F88C444}"/>
              </a:ext>
            </a:extLst>
          </p:cNvPr>
          <p:cNvSpPr/>
          <p:nvPr/>
        </p:nvSpPr>
        <p:spPr>
          <a:xfrm>
            <a:off x="7783475" y="2191826"/>
            <a:ext cx="3688131" cy="3584056"/>
          </a:xfrm>
          <a:prstGeom prst="flowChartConnector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122" name="Picture 2" descr="Python 3.14.1 arrives with a pile of improvements">
            <a:extLst>
              <a:ext uri="{FF2B5EF4-FFF2-40B4-BE49-F238E27FC236}">
                <a16:creationId xmlns:a16="http://schemas.microsoft.com/office/drawing/2014/main" id="{EABE0610-E552-ADA5-7D47-2D39D6805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401" y="2285035"/>
            <a:ext cx="3531870" cy="339763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523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FA757-8501-7984-A725-DDA38D1D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2912"/>
            <a:ext cx="10058400" cy="1450757"/>
          </a:xfrm>
        </p:spPr>
        <p:txBody>
          <a:bodyPr/>
          <a:lstStyle/>
          <a:p>
            <a:r>
              <a:rPr lang="en-US" b="1" dirty="0"/>
              <a:t>Accuracy / Performance Metrics of the Model</a:t>
            </a:r>
            <a:r>
              <a:rPr lang="en-IN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B1DA50-80CB-CCE9-037C-1E29F6F00C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7850" y="4087345"/>
            <a:ext cx="8378190" cy="893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18722-DE78-5EA8-7518-4421C5D2A9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-142088" b="11627"/>
          <a:stretch>
            <a:fillRect/>
          </a:stretch>
        </p:blipFill>
        <p:spPr>
          <a:xfrm>
            <a:off x="11886389" y="1"/>
            <a:ext cx="739847" cy="63757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22D305-C878-6453-51CA-826133865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60" y="2078379"/>
            <a:ext cx="7806690" cy="401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0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A65B9-DE44-3E45-FCDD-015C4B5A6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B4BA-2A52-F268-B9A4-EAA3C16DD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553" y="284023"/>
            <a:ext cx="10058400" cy="1450757"/>
          </a:xfrm>
        </p:spPr>
        <p:txBody>
          <a:bodyPr>
            <a:normAutofit/>
          </a:bodyPr>
          <a:lstStyle/>
          <a:p>
            <a:r>
              <a:rPr lang="en-US" sz="4000" b="1" dirty="0"/>
              <a:t>Accuracy / Performance Metrics of the Model</a:t>
            </a:r>
            <a:r>
              <a:rPr lang="en-IN" sz="4000" b="1" dirty="0"/>
              <a:t>:</a:t>
            </a: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29347D-972F-3404-59B7-6B6B41627D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7850" y="4087345"/>
            <a:ext cx="8378190" cy="893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823E7-E8CE-6F75-4519-D0330FCC14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-142088" b="11627"/>
          <a:stretch>
            <a:fillRect/>
          </a:stretch>
        </p:blipFill>
        <p:spPr>
          <a:xfrm>
            <a:off x="11886389" y="1"/>
            <a:ext cx="739847" cy="6375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FE053B-1979-AECB-02B4-9DF2B4F1A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687" y="2101584"/>
            <a:ext cx="7988969" cy="397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2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7BA97-1C93-4E62-5199-5C891004C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20A3A-0197-EBE2-D8E2-654FA5EE0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2912"/>
            <a:ext cx="10058400" cy="1450757"/>
          </a:xfrm>
        </p:spPr>
        <p:txBody>
          <a:bodyPr/>
          <a:lstStyle/>
          <a:p>
            <a:r>
              <a:rPr lang="en-US" sz="4800" b="1" dirty="0"/>
              <a:t>Accuracy / Performance Metrics of the Model </a:t>
            </a:r>
            <a:r>
              <a:rPr lang="en-IN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AEA459-1A69-43DF-9B48-4DF05B8E6B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7850" y="4087345"/>
            <a:ext cx="8378190" cy="893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6DA7E1-A45F-82CB-100F-66ACA2FAE4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-142088" b="11627"/>
          <a:stretch>
            <a:fillRect/>
          </a:stretch>
        </p:blipFill>
        <p:spPr>
          <a:xfrm>
            <a:off x="11886389" y="1"/>
            <a:ext cx="739847" cy="6375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2D00F8-03BA-5913-0F81-C60CEFE29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805" y="2126254"/>
            <a:ext cx="9595691" cy="412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65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A662-9788-C443-F7B0-0A361C53F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C96E7-4F45-3594-0AC8-C5FA53EAD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2912"/>
            <a:ext cx="10058400" cy="1450757"/>
          </a:xfrm>
        </p:spPr>
        <p:txBody>
          <a:bodyPr/>
          <a:lstStyle/>
          <a:p>
            <a:r>
              <a:rPr lang="en-IN" dirty="0"/>
              <a:t>Figures/Plots Showing Results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52F982-B104-5636-AFF3-C3C047192E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7850" y="4087345"/>
            <a:ext cx="8378190" cy="893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0B62B-87EF-4D37-740C-497F0D54B8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-142088" b="11627"/>
          <a:stretch>
            <a:fillRect/>
          </a:stretch>
        </p:blipFill>
        <p:spPr>
          <a:xfrm>
            <a:off x="11886389" y="1"/>
            <a:ext cx="739847" cy="63757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A310BB-B5F7-7C05-4097-97A4B6BF1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296" y="2058045"/>
            <a:ext cx="4586248" cy="40873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0319B7-BCA1-763E-78F1-CB8AAA922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733" y="2058045"/>
            <a:ext cx="4461467" cy="407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392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027EF-E0D2-9F9A-BA16-BC084AE40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62C9-C118-9CE5-4F05-3C74BE51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2912"/>
            <a:ext cx="10058400" cy="1450757"/>
          </a:xfrm>
        </p:spPr>
        <p:txBody>
          <a:bodyPr/>
          <a:lstStyle/>
          <a:p>
            <a:r>
              <a:rPr lang="en-IN" dirty="0"/>
              <a:t>Figures/Plots Showing Results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536582-EFAC-AEB9-FA3D-C634ED61AC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7850" y="4087345"/>
            <a:ext cx="8378190" cy="893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4AF24F-BBC8-38FF-5BCB-CD10CC9745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-142088" b="11627"/>
          <a:stretch>
            <a:fillRect/>
          </a:stretch>
        </p:blipFill>
        <p:spPr>
          <a:xfrm>
            <a:off x="11886389" y="1"/>
            <a:ext cx="739847" cy="6375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288266-E996-A7CA-BEFF-DF86F0348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013" y="2058045"/>
            <a:ext cx="4559783" cy="41500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F6B8B2-4FE9-DB5E-9673-88CF5F154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206" y="2014229"/>
            <a:ext cx="5033480" cy="423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813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186A0-C9C5-A5C1-F999-5F9957FFE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B9EE1-FD86-6586-23F7-F6D5E0069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2912"/>
            <a:ext cx="10058400" cy="1450757"/>
          </a:xfrm>
        </p:spPr>
        <p:txBody>
          <a:bodyPr/>
          <a:lstStyle/>
          <a:p>
            <a:r>
              <a:rPr lang="en-IN" dirty="0"/>
              <a:t>Figures/Plots Showing Results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CCFF4D-8B38-2776-93A7-D1C66DE81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7850" y="4087345"/>
            <a:ext cx="8378190" cy="893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5A670-AA42-414D-487A-B474DFA8DE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-142088" b="11627"/>
          <a:stretch>
            <a:fillRect/>
          </a:stretch>
        </p:blipFill>
        <p:spPr>
          <a:xfrm>
            <a:off x="11886389" y="1"/>
            <a:ext cx="739847" cy="63757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6E9130-C3F7-E743-FAAF-33757E2D0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794" y="2146434"/>
            <a:ext cx="8402854" cy="415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50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4E929-7B03-F199-C143-659DA6360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8531-6873-BA80-B367-E908415E8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2912"/>
            <a:ext cx="10058400" cy="1450757"/>
          </a:xfrm>
        </p:spPr>
        <p:txBody>
          <a:bodyPr/>
          <a:lstStyle/>
          <a:p>
            <a:r>
              <a:rPr lang="en-IN" dirty="0"/>
              <a:t>Figures/Plots Showing Results </a:t>
            </a:r>
            <a:r>
              <a:rPr lang="en-IN" b="1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1267B9-8516-E306-B2CE-0BD78300A9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7850" y="4087345"/>
            <a:ext cx="8378190" cy="893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6EF2F-D1F9-8900-C401-1603FAF897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-142088" b="11627"/>
          <a:stretch>
            <a:fillRect/>
          </a:stretch>
        </p:blipFill>
        <p:spPr>
          <a:xfrm>
            <a:off x="11886389" y="1"/>
            <a:ext cx="739847" cy="6375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F4748F-6D81-7228-6A99-7B3D8BDD0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915" y="2033431"/>
            <a:ext cx="8026169" cy="427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627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0A4A0-C956-5F42-86F7-CE06FDE0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Outcome &amp; Conclusion of the Project</a:t>
            </a:r>
            <a:r>
              <a:rPr lang="en-IN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3A685-DFCD-CFED-1DCC-FD9C2B32B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5929162" cy="428007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project uses machine learning to predict customer purchase amounts during Black Friday sales.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analyzes factors like demographics and product categories to understand buying behavior.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model helps businesses make better decisions in marketing and inventory management.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Overall, it improves sales forecasting and efficiency.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9354C-B697-8347-C064-E227945E2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1763784" y="-112734"/>
            <a:ext cx="423322" cy="650100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CAEE5B6-9CA1-3DC0-3070-F045340639F7}"/>
              </a:ext>
            </a:extLst>
          </p:cNvPr>
          <p:cNvSpPr/>
          <p:nvPr/>
        </p:nvSpPr>
        <p:spPr>
          <a:xfrm>
            <a:off x="8067683" y="2964581"/>
            <a:ext cx="3438507" cy="22811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172" name="Picture 4" descr="BLACK FRIDAY, CYBER MONDAY: DON'T OVERSPEND - USE SALES WISELY - ADF  Financial Services Consumer Centre">
            <a:extLst>
              <a:ext uri="{FF2B5EF4-FFF2-40B4-BE49-F238E27FC236}">
                <a16:creationId xmlns:a16="http://schemas.microsoft.com/office/drawing/2014/main" id="{648AD35A-7F07-45E2-3B0A-4F7D3F70E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001" y="2541070"/>
            <a:ext cx="3553433" cy="244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963843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{DE1348B6-7DBC-4BDF-8791-86E4BD026347}TF427093bb-7ddc-497b-80f4-fe945bcee621ff7241c0_win32-add2936a5c77</Template>
  <TotalTime>205</TotalTime>
  <Words>419</Words>
  <Application>Microsoft Office PowerPoint</Application>
  <PresentationFormat>Widescreen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Bookman Old Style</vt:lpstr>
      <vt:lpstr>Calibri</vt:lpstr>
      <vt:lpstr>Cambria</vt:lpstr>
      <vt:lpstr>Franklin Gothic Book</vt:lpstr>
      <vt:lpstr>Wingdings</vt:lpstr>
      <vt:lpstr>1_RetrospectVTI</vt:lpstr>
      <vt:lpstr>BLACK FRIDAY SALES PREDICTION </vt:lpstr>
      <vt:lpstr>PROBLEM STATEMENT:</vt:lpstr>
      <vt:lpstr>Explanation of the Project:</vt:lpstr>
      <vt:lpstr>Explanation of the Project:</vt:lpstr>
      <vt:lpstr>Description of the Model/Algorithm Used:</vt:lpstr>
      <vt:lpstr>TOOLS &amp; TECHNOLOGIES USED </vt:lpstr>
      <vt:lpstr>Accuracy / Performance Metrics of the Model:</vt:lpstr>
      <vt:lpstr>Accuracy / Performance Metrics of the Model:</vt:lpstr>
      <vt:lpstr>Accuracy / Performance Metrics of the Model :</vt:lpstr>
      <vt:lpstr>Figures/Plots Showing Results :</vt:lpstr>
      <vt:lpstr>Figures/Plots Showing Results :</vt:lpstr>
      <vt:lpstr>Figures/Plots Showing Results :</vt:lpstr>
      <vt:lpstr>Figures/Plots Showing Results :</vt:lpstr>
      <vt:lpstr>Outcome &amp; Conclusion of the Project: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Radharapu Revanth</dc:creator>
  <cp:lastModifiedBy>Radharapu Revanth</cp:lastModifiedBy>
  <cp:revision>9</cp:revision>
  <dcterms:created xsi:type="dcterms:W3CDTF">2026-02-25T08:03:52Z</dcterms:created>
  <dcterms:modified xsi:type="dcterms:W3CDTF">2026-04-15T10:11:50Z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