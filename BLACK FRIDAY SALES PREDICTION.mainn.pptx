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sldIdLst>
    <p:sldId id="268" r:id="rId5"/>
    <p:sldId id="310" r:id="rId6"/>
    <p:sldId id="311" r:id="rId7"/>
    <p:sldId id="312" r:id="rId8"/>
    <p:sldId id="313" r:id="rId9"/>
    <p:sldId id="314" r:id="rId10"/>
    <p:sldId id="31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19" autoAdjust="0"/>
  </p:normalViewPr>
  <p:slideViewPr>
    <p:cSldViewPr snapToGrid="0">
      <p:cViewPr>
        <p:scale>
          <a:sx n="51" d="100"/>
          <a:sy n="51" d="100"/>
        </p:scale>
        <p:origin x="1256" y="4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4/14/2026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2251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4/14/2026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20101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4/14/2026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04017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4/14/2026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22313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4/14/2026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67755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4/14/2026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22601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4/14/2026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07235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92BEA474-078D-4E9B-9B14-09A87B19DC46}" type="datetime1">
              <a:rPr lang="en-US" smtClean="0"/>
              <a:t>4/14/2026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18504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smtClean="0"/>
              <a:t>4/14/2026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43989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  <a:t>4/14/2026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90708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700" i="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A9286AD2-18A9-4868-A4E3-7A2097A208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1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Book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10AF38-26DF-48B3-952C-4A9091D686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900594"/>
            <a:ext cx="7234989" cy="3313090"/>
          </a:xfrm>
        </p:spPr>
        <p:txBody>
          <a:bodyPr>
            <a:normAutofit fontScale="90000"/>
          </a:bodyPr>
          <a:lstStyle/>
          <a:p>
            <a:r>
              <a:rPr lang="en-IN" dirty="0"/>
              <a:t>BLACK FRIDAY SALES PREDICTION</a:t>
            </a:r>
            <a:br>
              <a:rPr lang="en-US" b="1" dirty="0"/>
            </a:br>
            <a:endParaRPr lang="en-US" sz="8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FC2D8F-56D2-4ADF-B439-0E09E7C378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2899" y="4672739"/>
            <a:ext cx="6269347" cy="1021498"/>
          </a:xfrm>
        </p:spPr>
        <p:txBody>
          <a:bodyPr>
            <a:normAutofit/>
          </a:bodyPr>
          <a:lstStyle/>
          <a:p>
            <a:r>
              <a:rPr lang="en-IN" dirty="0"/>
              <a:t>SALES ANALYSIS</a:t>
            </a:r>
          </a:p>
          <a:p>
            <a:endParaRPr lang="en-IN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endParaRPr lang="en-IN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E7A7CD63-7EC3-44F3-95D0-595C4019FF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44179" y="4498925"/>
            <a:ext cx="5636107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: Rounded Corners 3" descr="fvfef">
            <a:extLst>
              <a:ext uri="{FF2B5EF4-FFF2-40B4-BE49-F238E27FC236}">
                <a16:creationId xmlns:a16="http://schemas.microsoft.com/office/drawing/2014/main" id="{F0650346-1505-2BCA-544F-AF0B52B6841B}"/>
              </a:ext>
            </a:extLst>
          </p:cNvPr>
          <p:cNvSpPr/>
          <p:nvPr/>
        </p:nvSpPr>
        <p:spPr>
          <a:xfrm>
            <a:off x="4042611" y="5470358"/>
            <a:ext cx="3192378" cy="120315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NAME: RADHARAPU REVANTH</a:t>
            </a:r>
          </a:p>
          <a:p>
            <a:pPr algn="ctr"/>
            <a:r>
              <a:rPr lang="en-IN" dirty="0"/>
              <a:t>ROLL  NO: 240352418</a:t>
            </a:r>
          </a:p>
          <a:p>
            <a:pPr algn="ctr"/>
            <a:r>
              <a:rPr lang="en-IN" dirty="0"/>
              <a:t>CSE AIML 15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10D334E-6BEE-8E66-D4BC-9D29B51076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5145" y="0"/>
            <a:ext cx="4682134" cy="685800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212A3AAF-75EF-4AAE-4A75-8C6C192FF450}"/>
              </a:ext>
            </a:extLst>
          </p:cNvPr>
          <p:cNvSpPr/>
          <p:nvPr/>
        </p:nvSpPr>
        <p:spPr>
          <a:xfrm flipH="1">
            <a:off x="10644700" y="0"/>
            <a:ext cx="1306667" cy="686341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n-US" sz="4400" b="1" cap="none" spc="0" dirty="0">
                <a:ln/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</a:t>
            </a:r>
          </a:p>
          <a:p>
            <a:pPr algn="ctr"/>
            <a:r>
              <a:rPr lang="en-US" sz="4400" b="1" dirty="0">
                <a:ln/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</a:t>
            </a:r>
          </a:p>
          <a:p>
            <a:pPr algn="ctr"/>
            <a:r>
              <a:rPr lang="en-US" sz="4400" b="1" cap="none" spc="0" dirty="0">
                <a:ln/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</a:t>
            </a:r>
          </a:p>
          <a:p>
            <a:pPr algn="ctr"/>
            <a:r>
              <a:rPr lang="en-US" sz="4400" b="1" dirty="0">
                <a:ln/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</a:t>
            </a:r>
          </a:p>
          <a:p>
            <a:pPr algn="ctr"/>
            <a:r>
              <a:rPr lang="en-US" sz="4400" b="1" cap="none" spc="0" dirty="0">
                <a:ln/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</a:t>
            </a:r>
          </a:p>
          <a:p>
            <a:pPr algn="ctr"/>
            <a:r>
              <a:rPr lang="en-US" sz="4400" b="1" dirty="0">
                <a:ln/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</a:t>
            </a:r>
          </a:p>
          <a:p>
            <a:pPr algn="ctr"/>
            <a:r>
              <a:rPr lang="en-US" sz="4400" b="1" cap="none" spc="0" dirty="0">
                <a:ln/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</a:t>
            </a:r>
          </a:p>
          <a:p>
            <a:pPr algn="ctr"/>
            <a:r>
              <a:rPr lang="en-US" sz="4400" b="1" dirty="0">
                <a:ln/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</a:t>
            </a:r>
          </a:p>
          <a:p>
            <a:pPr algn="ctr"/>
            <a:r>
              <a:rPr lang="en-US" sz="4400" b="1" cap="none" spc="0" dirty="0">
                <a:ln/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</a:t>
            </a:r>
          </a:p>
          <a:p>
            <a:pPr algn="ctr"/>
            <a:r>
              <a:rPr lang="en-US" sz="4400" b="1" dirty="0">
                <a:ln/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</a:t>
            </a:r>
            <a:endParaRPr lang="en-US" sz="4400" b="1" cap="none" spc="0" dirty="0">
              <a:ln/>
              <a:solidFill>
                <a:schemeClr val="accent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9127473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76CB32-901A-4DA0-AA8A-9A7B5A88BF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en-IN" b="1" dirty="0"/>
              <a:t>ABSTRACT:</a:t>
            </a:r>
            <a:endParaRPr lang="en-US" b="1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45476F-66B6-C2DF-75B6-1BB32BEF4E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endParaRPr lang="en-US" b="1" dirty="0"/>
          </a:p>
          <a:p>
            <a:r>
              <a:rPr lang="en-US" sz="2800" dirty="0"/>
              <a:t>Black Friday is one of the most significant shopping events, where sales increase rapidly within a short period. Accurate sales prediction during this season helps businesses manage inventory, marketing strategies, and customer demand effectively.</a:t>
            </a:r>
          </a:p>
          <a:p>
            <a:r>
              <a:rPr lang="en-US" sz="2800" dirty="0"/>
              <a:t>This project focuses on predicting week-by-week sales increment using Python. The sales data is processed and analyzed to identify growth patterns. Based on historical weekly data, prediction techniques are applied to estimate future sales trends</a:t>
            </a:r>
            <a:r>
              <a:rPr lang="en-US" dirty="0"/>
              <a:t>.</a:t>
            </a:r>
          </a:p>
          <a:p>
            <a:endParaRPr lang="en-IN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51CCFD0-4F3C-C84E-BE4B-E9EC7FC56EB2}"/>
              </a:ext>
            </a:extLst>
          </p:cNvPr>
          <p:cNvCxnSpPr>
            <a:cxnSpLocks/>
          </p:cNvCxnSpPr>
          <p:nvPr/>
        </p:nvCxnSpPr>
        <p:spPr>
          <a:xfrm>
            <a:off x="11887200" y="0"/>
            <a:ext cx="0" cy="6368716"/>
          </a:xfrm>
          <a:prstGeom prst="line">
            <a:avLst/>
          </a:prstGeom>
          <a:ln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F28B47C-7B2C-A96F-EF5E-2305D7E8C532}"/>
              </a:ext>
            </a:extLst>
          </p:cNvPr>
          <p:cNvCxnSpPr>
            <a:cxnSpLocks/>
          </p:cNvCxnSpPr>
          <p:nvPr/>
        </p:nvCxnSpPr>
        <p:spPr>
          <a:xfrm>
            <a:off x="12007516" y="44918"/>
            <a:ext cx="0" cy="6368716"/>
          </a:xfrm>
          <a:prstGeom prst="line">
            <a:avLst/>
          </a:prstGeom>
          <a:ln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38DB9C71-2F4E-76EA-628D-93E7ADE6D4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00856" y="-22459"/>
            <a:ext cx="272921" cy="6413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25468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2CE73C-D275-89D0-B97E-8DD78A53FD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447023"/>
            <a:ext cx="10058400" cy="1450757"/>
          </a:xfrm>
        </p:spPr>
        <p:txBody>
          <a:bodyPr>
            <a:normAutofit/>
          </a:bodyPr>
          <a:lstStyle/>
          <a:p>
            <a:r>
              <a:rPr lang="en-IN" sz="4000" b="1" dirty="0"/>
              <a:t>OBJECTIVE OF THE PROJECT: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35A67A9-BB26-F9F2-FA81-172E59A9CCA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57759" y="2688799"/>
            <a:ext cx="9406999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analyze weekly sales data during Black Friday season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calculate week-by-week sales increment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build a prediction model using Python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forecast future sales trends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understand growth pattern in sales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AA16A9D-2872-6ED0-E63B-372C5EE4BB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21118" y="0"/>
            <a:ext cx="270882" cy="6394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01222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4DF7AE-A1ED-83A9-370A-821BE3C2B1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METHODOLOGY: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9AFF2D-A8C2-B253-E86A-D35859919A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400" dirty="0"/>
              <a:t>Collected weekly sales data</a:t>
            </a:r>
          </a:p>
          <a:p>
            <a:r>
              <a:rPr lang="en-US" sz="2400" dirty="0"/>
              <a:t>Loaded data into Python using Pandas</a:t>
            </a:r>
          </a:p>
          <a:p>
            <a:r>
              <a:rPr lang="en-US" sz="2400" dirty="0"/>
              <a:t>Cleaned and organized the dataset</a:t>
            </a:r>
          </a:p>
          <a:p>
            <a:r>
              <a:rPr lang="en-US" sz="2400" dirty="0"/>
              <a:t>Calculated weekly increment using formula:</a:t>
            </a:r>
          </a:p>
          <a:p>
            <a:r>
              <a:rPr lang="en-US" sz="2400" b="1" dirty="0"/>
              <a:t>Increment = Current Week Sales − Previous Week Sales</a:t>
            </a:r>
            <a:endParaRPr lang="en-US" sz="2400" dirty="0"/>
          </a:p>
          <a:p>
            <a:r>
              <a:rPr lang="en-US" sz="2400" dirty="0"/>
              <a:t>Applied prediction technique to forecast future sales</a:t>
            </a:r>
          </a:p>
          <a:p>
            <a:r>
              <a:rPr lang="en-US" sz="2400" dirty="0"/>
              <a:t>Visualized results using graphs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D6EE0E0-06EA-5C32-F8C2-4FD4AC65AA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07486" y="-39757"/>
            <a:ext cx="271980" cy="6420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65566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299920-1203-D28E-7425-36C825B399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8568" y="988908"/>
            <a:ext cx="10058400" cy="1450757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TOOLS &amp; TECHNOLOGIES USED</a:t>
            </a:r>
            <a:br>
              <a:rPr lang="en-IN" b="1" dirty="0"/>
            </a:b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B1044D2-E9F5-1FA5-6449-D4F09FE4E3A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78568" y="2540136"/>
            <a:ext cx="9496927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Python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Programming language used for prediction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Pandas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For data loading and data manipulation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NumPy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For numerical calculations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Matplotlib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For plotting graphs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Jupyter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Notebook / VS Code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Development environment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9FDD58D-CE3D-C565-6732-64E2A7BCEA0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7060"/>
          <a:stretch>
            <a:fillRect/>
          </a:stretch>
        </p:blipFill>
        <p:spPr>
          <a:xfrm>
            <a:off x="11821726" y="0"/>
            <a:ext cx="370274" cy="6375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65231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0FA757-8501-7984-A725-DDA38D1D4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302912"/>
            <a:ext cx="10058400" cy="1450757"/>
          </a:xfrm>
        </p:spPr>
        <p:txBody>
          <a:bodyPr/>
          <a:lstStyle/>
          <a:p>
            <a:r>
              <a:rPr lang="en-IN" dirty="0"/>
              <a:t>FINAL OUTPUT: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6B1DA50-80CB-CCE9-037C-1E29F6F00C8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66800" y="743241"/>
            <a:ext cx="7902341" cy="59318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 algn="just">
              <a:lnSpc>
                <a:spcPct val="100000"/>
              </a:lnSpc>
              <a:buNone/>
            </a:pPr>
            <a:r>
              <a:rPr lang="en-US" sz="2400" dirty="0"/>
              <a:t>Predicted weekly sales values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sz="2400" dirty="0"/>
              <a:t>Calculated week-by-week increment</a:t>
            </a:r>
          </a:p>
          <a:p>
            <a:pPr algn="just">
              <a:lnSpc>
                <a:spcPct val="100000"/>
              </a:lnSpc>
            </a:pPr>
            <a:r>
              <a:rPr lang="en-US" sz="2400" dirty="0"/>
              <a:t>Generated sales growth graph</a:t>
            </a:r>
          </a:p>
          <a:p>
            <a:pPr algn="just">
              <a:lnSpc>
                <a:spcPct val="100000"/>
              </a:lnSpc>
            </a:pPr>
            <a:r>
              <a:rPr lang="en-US" sz="2400" dirty="0"/>
              <a:t>Forecasted future sales trend</a:t>
            </a:r>
          </a:p>
          <a:p>
            <a:pPr algn="just">
              <a:lnSpc>
                <a:spcPct val="100000"/>
              </a:lnSpc>
            </a:pPr>
            <a:r>
              <a:rPr lang="en-US" sz="2800" b="1" u="sng" dirty="0"/>
              <a:t>Output Includes:</a:t>
            </a:r>
          </a:p>
          <a:p>
            <a:pPr algn="just">
              <a:lnSpc>
                <a:spcPct val="100000"/>
              </a:lnSpc>
            </a:pPr>
            <a:r>
              <a:rPr lang="en-US" sz="2400" dirty="0"/>
              <a:t>Numerical prediction results</a:t>
            </a:r>
          </a:p>
          <a:p>
            <a:pPr algn="just">
              <a:lnSpc>
                <a:spcPct val="100000"/>
              </a:lnSpc>
            </a:pPr>
            <a:r>
              <a:rPr lang="en-US" sz="2400" dirty="0"/>
              <a:t>Increment table</a:t>
            </a:r>
          </a:p>
          <a:p>
            <a:pPr algn="just">
              <a:lnSpc>
                <a:spcPct val="100000"/>
              </a:lnSpc>
            </a:pPr>
            <a:r>
              <a:rPr lang="en-US" sz="2400" dirty="0"/>
              <a:t>Line graph showing sales growth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A318722-DE78-5EA8-7518-4421C5D2A91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1" r="-142088" b="11627"/>
          <a:stretch>
            <a:fillRect/>
          </a:stretch>
        </p:blipFill>
        <p:spPr>
          <a:xfrm>
            <a:off x="11886389" y="1"/>
            <a:ext cx="739847" cy="6375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3904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90A4A0-C956-5F42-86F7-CE06FDE060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CONCLUSION: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63A685-DFCD-CFED-1DCC-FD9C2B32B4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2800" b="1" u="sng" dirty="0"/>
              <a:t>FUTURE ENHANCEMENT / FINAL IMPROVEMENT</a:t>
            </a:r>
          </a:p>
          <a:p>
            <a:r>
              <a:rPr lang="en-US" sz="2800" b="1" u="sng" dirty="0"/>
              <a:t>What I Plan to Do Further</a:t>
            </a:r>
          </a:p>
          <a:p>
            <a:r>
              <a:rPr lang="en-US" sz="2800" dirty="0"/>
              <a:t>Improve prediction accuracy using advanced models</a:t>
            </a:r>
          </a:p>
          <a:p>
            <a:r>
              <a:rPr lang="en-US" sz="2800" dirty="0"/>
              <a:t>Use more historical data for better forecasting</a:t>
            </a:r>
          </a:p>
          <a:p>
            <a:r>
              <a:rPr lang="en-US" sz="2800" dirty="0"/>
              <a:t>Build a user-friendly dashboard</a:t>
            </a:r>
          </a:p>
          <a:p>
            <a:r>
              <a:rPr lang="en-US" sz="2800" dirty="0"/>
              <a:t>Deploy the project as a web application</a:t>
            </a:r>
          </a:p>
          <a:p>
            <a:r>
              <a:rPr lang="en-US" sz="2800" dirty="0"/>
              <a:t>Add monthly and yearly comparison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D89354C-B697-8347-C064-E227945E22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11763784" y="-112734"/>
            <a:ext cx="423322" cy="6501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0963843"/>
      </p:ext>
    </p:extLst>
  </p:cSld>
  <p:clrMapOvr>
    <a:masterClrMapping/>
  </p:clrMapOvr>
</p:sld>
</file>

<file path=ppt/theme/theme1.xml><?xml version="1.0" encoding="utf-8"?>
<a:theme xmlns:a="http://schemas.openxmlformats.org/drawingml/2006/main" name="1_RetrospectVTI">
  <a:themeElements>
    <a:clrScheme name="Custom 34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EC7016"/>
      </a:accent1>
      <a:accent2>
        <a:srgbClr val="F8931D"/>
      </a:accent2>
      <a:accent3>
        <a:srgbClr val="CE8D3E"/>
      </a:accent3>
      <a:accent4>
        <a:srgbClr val="E64823"/>
      </a:accent4>
      <a:accent5>
        <a:srgbClr val="FFCA08"/>
      </a:accent5>
      <a:accent6>
        <a:srgbClr val="9C6A6A"/>
      </a:accent6>
      <a:hlink>
        <a:srgbClr val="2998E3"/>
      </a:hlink>
      <a:folHlink>
        <a:srgbClr val="7F723D"/>
      </a:folHlink>
    </a:clrScheme>
    <a:fontScheme name="Retrospect">
      <a:majorFont>
        <a:latin typeface="Bookman Old Style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VTI" id="{ABE3C30C-0FC0-4450-828E-52DE70F1BCCB}" vid="{A6E2497D-935A-4CFD-B9FD-6DCB15FA68BF}"/>
    </a:ext>
  </a:extLst>
</a:theme>
</file>

<file path=ppt/theme/themeOverride1.xml><?xml version="1.0" encoding="utf-8"?>
<a:themeOverride xmlns:a="http://schemas.openxmlformats.org/drawingml/2006/main">
  <a:clrScheme name="Custom 41">
    <a:dk1>
      <a:sysClr val="windowText" lastClr="000000"/>
    </a:dk1>
    <a:lt1>
      <a:sysClr val="window" lastClr="FFFFFF"/>
    </a:lt1>
    <a:dk2>
      <a:srgbClr val="39302A"/>
    </a:dk2>
    <a:lt2>
      <a:srgbClr val="E5DEDB"/>
    </a:lt2>
    <a:accent1>
      <a:srgbClr val="F36826"/>
    </a:accent1>
    <a:accent2>
      <a:srgbClr val="FB8E09"/>
    </a:accent2>
    <a:accent3>
      <a:srgbClr val="D48B32"/>
    </a:accent3>
    <a:accent4>
      <a:srgbClr val="E64823"/>
    </a:accent4>
    <a:accent5>
      <a:srgbClr val="FFCA08"/>
    </a:accent5>
    <a:accent6>
      <a:srgbClr val="AF695B"/>
    </a:accent6>
    <a:hlink>
      <a:srgbClr val="2998E3"/>
    </a:hlink>
    <a:folHlink>
      <a:srgbClr val="7F723D"/>
    </a:folHlink>
  </a:clrScheme>
</a:themeOverride>
</file>

<file path=ppt/theme/themeOverride2.xml><?xml version="1.0" encoding="utf-8"?>
<a:themeOverride xmlns:a="http://schemas.openxmlformats.org/drawingml/2006/main">
  <a:clrScheme name="Custom 41">
    <a:dk1>
      <a:sysClr val="windowText" lastClr="000000"/>
    </a:dk1>
    <a:lt1>
      <a:sysClr val="window" lastClr="FFFFFF"/>
    </a:lt1>
    <a:dk2>
      <a:srgbClr val="39302A"/>
    </a:dk2>
    <a:lt2>
      <a:srgbClr val="E5DEDB"/>
    </a:lt2>
    <a:accent1>
      <a:srgbClr val="F36826"/>
    </a:accent1>
    <a:accent2>
      <a:srgbClr val="FB8E09"/>
    </a:accent2>
    <a:accent3>
      <a:srgbClr val="D48B32"/>
    </a:accent3>
    <a:accent4>
      <a:srgbClr val="E64823"/>
    </a:accent4>
    <a:accent5>
      <a:srgbClr val="FFCA08"/>
    </a:accent5>
    <a:accent6>
      <a:srgbClr val="AF695B"/>
    </a:accent6>
    <a:hlink>
      <a:srgbClr val="2998E3"/>
    </a:hlink>
    <a:folHlink>
      <a:srgbClr val="7F723D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1747A963-53E0-44AF-AF13-963FE676C68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38A3B04-B0F3-4C12-A722-52B5CF6D972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F5B1FD9-3BB6-4DA9-A089-3B68C2323D4F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{DE1348B6-7DBC-4BDF-8791-86E4BD026347}TF427093bb-7ddc-497b-80f4-fe945bcee621ff7241c0_win32-add2936a5c77</Template>
  <TotalTime>115</TotalTime>
  <Words>299</Words>
  <Application>Microsoft Office PowerPoint</Application>
  <PresentationFormat>Widescreen</PresentationFormat>
  <Paragraphs>58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Bookman Old Style</vt:lpstr>
      <vt:lpstr>Calibri</vt:lpstr>
      <vt:lpstr>Franklin Gothic Book</vt:lpstr>
      <vt:lpstr>1_RetrospectVTI</vt:lpstr>
      <vt:lpstr>BLACK FRIDAY SALES PREDICTION </vt:lpstr>
      <vt:lpstr>ABSTRACT:</vt:lpstr>
      <vt:lpstr>OBJECTIVE OF THE PROJECT:</vt:lpstr>
      <vt:lpstr>METHODOLOGY:</vt:lpstr>
      <vt:lpstr>TOOLS &amp; TECHNOLOGIES USED </vt:lpstr>
      <vt:lpstr>FINAL OUTPUT:</vt:lpstr>
      <vt:lpstr>CONCLUSION: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Radharapu Revanth</dc:creator>
  <cp:lastModifiedBy>Radharapu Revanth</cp:lastModifiedBy>
  <cp:revision>2</cp:revision>
  <dcterms:created xsi:type="dcterms:W3CDTF">2026-02-25T08:03:52Z</dcterms:created>
  <dcterms:modified xsi:type="dcterms:W3CDTF">2026-04-14T18:29:06Z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